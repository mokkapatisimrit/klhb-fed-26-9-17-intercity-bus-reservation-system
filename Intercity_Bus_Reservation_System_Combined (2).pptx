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e71aee8-fdc0-6235-880c-b5c703e1be83}">
          <p14:sldIdLst>
            <p14:sldId id="256"/>
          </p14:sldIdLst>
        </p14:section>
        <p14:section name="Roadmap" id="{fe76ea06-31ee-fe67-eb26-cf52329083da}">
          <p14:sldIdLst>
            <p14:sldId id="257"/>
          </p14:sldIdLst>
        </p14:section>
        <p14:section name="1 Foundations" id="{c5049ed2-3290-b47c-12ee-a8bd461dbef8}">
          <p14:sldIdLst>
            <p14:sldId id="258"/>
          </p14:sldIdLst>
        </p14:section>
        <p14:section name="2 Control Flow" id="{93ca106e-e77f-8651-b2dc-32a0028f3e89}">
          <p14:sldIdLst>
            <p14:sldId id="259"/>
          </p14:sldIdLst>
        </p14:section>
        <p14:section name="3 Methods" id="{eafbf4f5-26a2-750c-cd21-22b24e2ddcda}">
          <p14:sldIdLst>
            <p14:sldId id="260"/>
          </p14:sldIdLst>
        </p14:section>
        <p14:section name="4 OOP &amp; Exceptions" id="{f46137b7-b179-b2eb-1c31-99af0893c8e4}">
          <p14:sldIdLst>
            <p14:sldId id="261"/>
            <p14:sldId id="262"/>
          </p14:sldIdLst>
        </p14:section>
        <p14:section name="5 Strings &amp; I/O" id="{93c5982e-1fe9-49e4-573e-9d3e3bc100c6}">
          <p14:sldIdLst>
            <p14:sldId id="263"/>
            <p14:sldId id="264"/>
          </p14:sldIdLst>
        </p14:section>
        <p14:section name="6 Collections &amp; Streams" id="{c68f0256-9c05-2189-c42b-dd76fbcdd047}">
          <p14:sldIdLst>
            <p14:sldId id="265"/>
            <p14:sldId id="266"/>
          </p14:sldIdLst>
        </p14:section>
        <p14:section name="End" id="{2e89f1fe-9618-2c73-e809-832ec6842ae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Bus Reservation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te"/>
          <p:cNvSpPr/>
          <p:nvPr/>
        </p:nvSpPr>
        <p:spPr>
          <a:xfrm>
            <a:off x="731520" y="914400"/>
            <a:ext cx="10698480" cy="0"/>
          </a:xfrm>
          <a:prstGeom prst="line">
            <a:avLst/>
          </a:prstGeom>
          <a:noFill/>
          <a:ln w="31750">
            <a:solidFill>
              <a:srgbClr val="3A3D44"/>
            </a:solidFill>
            <a:prstDash val="solid"/>
          </a:ln>
        </p:spPr>
      </p:sp>
      <p:sp>
        <p:nvSpPr>
          <p:cNvPr id="3" name="stop 1"/>
          <p:cNvSpPr/>
          <p:nvPr/>
        </p:nvSpPr>
        <p:spPr>
          <a:xfrm>
            <a:off x="630936" y="813816"/>
            <a:ext cx="201168" cy="201168"/>
          </a:xfrm>
          <a:prstGeom prst="ellipse">
            <a:avLst/>
          </a:prstGeom>
          <a:solidFill>
            <a:srgbClr val="FFB02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stop 2"/>
          <p:cNvSpPr/>
          <p:nvPr/>
        </p:nvSpPr>
        <p:spPr>
          <a:xfrm>
            <a:off x="2770632" y="813816"/>
            <a:ext cx="201168" cy="20116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stop 3"/>
          <p:cNvSpPr/>
          <p:nvPr/>
        </p:nvSpPr>
        <p:spPr>
          <a:xfrm>
            <a:off x="4910328" y="813816"/>
            <a:ext cx="201168" cy="201168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top 4"/>
          <p:cNvSpPr/>
          <p:nvPr/>
        </p:nvSpPr>
        <p:spPr>
          <a:xfrm>
            <a:off x="7050024" y="813816"/>
            <a:ext cx="201168" cy="20116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top 5"/>
          <p:cNvSpPr/>
          <p:nvPr/>
        </p:nvSpPr>
        <p:spPr>
          <a:xfrm>
            <a:off x="9189720" y="813816"/>
            <a:ext cx="201168" cy="201168"/>
          </a:xfrm>
          <a:prstGeom prst="ellipse">
            <a:avLst/>
          </a:prstGeom>
          <a:solidFill>
            <a:srgbClr val="FB7185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stop 6"/>
          <p:cNvSpPr/>
          <p:nvPr/>
        </p:nvSpPr>
        <p:spPr>
          <a:xfrm>
            <a:off x="11329416" y="813816"/>
            <a:ext cx="201168" cy="20116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OOP PROJECT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Intercity Bus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System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routes  ·  book seats  ·  generate tickets  ·  manage the fleet — all in pure Java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3" name="member"/>
          <p:cNvSpPr/>
          <p:nvPr/>
        </p:nvSpPr>
        <p:spPr>
          <a:xfrm>
            <a:off x="731520" y="5257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Simrit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2620080013</a:t>
            </a:r>
            <a:endParaRPr lang="en-US" sz="1400" dirty="0"/>
          </a:p>
        </p:txBody>
      </p:sp>
      <p:sp>
        <p:nvSpPr>
          <p:cNvPr id="16" name="member"/>
          <p:cNvSpPr/>
          <p:nvPr/>
        </p:nvSpPr>
        <p:spPr>
          <a:xfrm>
            <a:off x="4297680" y="5257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Yutesh Kumar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2620030088</a:t>
            </a:r>
            <a:endParaRPr lang="en-US" sz="1400" dirty="0"/>
          </a:p>
        </p:txBody>
      </p:sp>
      <p:sp>
        <p:nvSpPr>
          <p:cNvPr id="19" name="member"/>
          <p:cNvSpPr/>
          <p:nvPr/>
        </p:nvSpPr>
        <p:spPr>
          <a:xfrm>
            <a:off x="7863840" y="5257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Bhanu Shanker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2620030141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AHEAD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stops on our learning journey</a:t>
            </a:r>
            <a:endParaRPr lang="en-US" sz="3400" dirty="0"/>
          </a:p>
        </p:txBody>
      </p:sp>
      <p:sp>
        <p:nvSpPr>
          <p:cNvPr id="4" name="route"/>
          <p:cNvSpPr/>
          <p:nvPr/>
        </p:nvSpPr>
        <p:spPr>
          <a:xfrm>
            <a:off x="1143000" y="2514600"/>
            <a:ext cx="9875520" cy="0"/>
          </a:xfrm>
          <a:prstGeom prst="line">
            <a:avLst/>
          </a:prstGeom>
          <a:noFill/>
          <a:ln w="38100">
            <a:solidFill>
              <a:srgbClr val="3A3D44"/>
            </a:solidFill>
            <a:prstDash val="solid"/>
          </a:ln>
        </p:spPr>
      </p:sp>
      <p:sp>
        <p:nvSpPr>
          <p:cNvPr id="5" name="stop"/>
          <p:cNvSpPr/>
          <p:nvPr/>
        </p:nvSpPr>
        <p:spPr>
          <a:xfrm>
            <a:off x="1147572" y="2221992"/>
            <a:ext cx="585216" cy="585216"/>
          </a:xfrm>
          <a:prstGeom prst="ellipse">
            <a:avLst/>
          </a:prstGeom>
          <a:solidFill>
            <a:srgbClr val="FFB020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757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module card"/>
          <p:cNvSpPr/>
          <p:nvPr/>
        </p:nvSpPr>
        <p:spPr>
          <a:xfrm>
            <a:off x="548640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Program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stop"/>
          <p:cNvSpPr/>
          <p:nvPr/>
        </p:nvSpPr>
        <p:spPr>
          <a:xfrm>
            <a:off x="3040380" y="2221992"/>
            <a:ext cx="585216" cy="585216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4038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module card"/>
          <p:cNvSpPr/>
          <p:nvPr/>
        </p:nvSpPr>
        <p:spPr>
          <a:xfrm>
            <a:off x="2441448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24328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624328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Loops</a:t>
            </a:r>
            <a:endParaRPr lang="en-US" sz="1400" dirty="0"/>
          </a:p>
        </p:txBody>
      </p:sp>
      <p:sp>
        <p:nvSpPr>
          <p:cNvPr id="17" name="stop"/>
          <p:cNvSpPr/>
          <p:nvPr/>
        </p:nvSpPr>
        <p:spPr>
          <a:xfrm>
            <a:off x="4933188" y="2221992"/>
            <a:ext cx="585216" cy="585216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318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module card"/>
          <p:cNvSpPr/>
          <p:nvPr/>
        </p:nvSpPr>
        <p:spPr>
          <a:xfrm>
            <a:off x="4334256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7136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17136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17136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Arrays</a:t>
            </a:r>
            <a:endParaRPr lang="en-US" sz="1400" dirty="0"/>
          </a:p>
        </p:txBody>
      </p:sp>
      <p:sp>
        <p:nvSpPr>
          <p:cNvPr id="23" name="stop"/>
          <p:cNvSpPr/>
          <p:nvPr/>
        </p:nvSpPr>
        <p:spPr>
          <a:xfrm>
            <a:off x="6825996" y="2221992"/>
            <a:ext cx="585216" cy="585216"/>
          </a:xfrm>
          <a:prstGeom prst="ellipse">
            <a:avLst/>
          </a:prstGeom>
          <a:solidFill>
            <a:srgbClr val="A78BFA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25996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module card"/>
          <p:cNvSpPr/>
          <p:nvPr/>
        </p:nvSpPr>
        <p:spPr>
          <a:xfrm>
            <a:off x="6227064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+ Exceptions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Design</a:t>
            </a:r>
            <a:endParaRPr lang="en-US" sz="1400" dirty="0"/>
          </a:p>
        </p:txBody>
      </p:sp>
      <p:sp>
        <p:nvSpPr>
          <p:cNvPr id="29" name="stop"/>
          <p:cNvSpPr/>
          <p:nvPr/>
        </p:nvSpPr>
        <p:spPr>
          <a:xfrm>
            <a:off x="8718804" y="2221992"/>
            <a:ext cx="585216" cy="585216"/>
          </a:xfrm>
          <a:prstGeom prst="ellipse">
            <a:avLst/>
          </a:prstGeom>
          <a:solidFill>
            <a:srgbClr val="FB7185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1880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module card"/>
          <p:cNvSpPr/>
          <p:nvPr/>
        </p:nvSpPr>
        <p:spPr>
          <a:xfrm>
            <a:off x="8119872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02752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&amp; I/O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Algorithms</a:t>
            </a:r>
            <a:endParaRPr lang="en-US" sz="1400" dirty="0"/>
          </a:p>
        </p:txBody>
      </p:sp>
      <p:sp>
        <p:nvSpPr>
          <p:cNvPr id="35" name="stop"/>
          <p:cNvSpPr/>
          <p:nvPr/>
        </p:nvSpPr>
        <p:spPr>
          <a:xfrm>
            <a:off x="10611612" y="2221992"/>
            <a:ext cx="585216" cy="585216"/>
          </a:xfrm>
          <a:prstGeom prst="ellipse">
            <a:avLst/>
          </a:prstGeom>
          <a:solidFill>
            <a:srgbClr val="60A5FA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1161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module card"/>
          <p:cNvSpPr/>
          <p:nvPr/>
        </p:nvSpPr>
        <p:spPr>
          <a:xfrm>
            <a:off x="10012680" y="3108960"/>
            <a:ext cx="1783080" cy="2377440"/>
          </a:xfrm>
          <a:prstGeom prst="roundRect">
            <a:avLst>
              <a:gd name="adj" fmla="val 6154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9556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195560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195560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API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that follows carries this route in its top-right corner, so the audience always knows which stop we are 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FROM PROBLEM TO PROGRAM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building?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stop 1"/>
          <p:cNvSpPr/>
          <p:nvPr/>
        </p:nvSpPr>
        <p:spPr>
          <a:xfrm>
            <a:off x="7662672" y="320040"/>
            <a:ext cx="310896" cy="310896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62672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0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1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search routes, check seats, book tickets, cancel and get receipts. The admin manages buses and schedules.</a:t>
            </a:r>
            <a:endParaRPr lang="en-US" sz="1800" dirty="0"/>
          </a:p>
        </p:txBody>
      </p:sp>
      <p:sp>
        <p:nvSpPr>
          <p:cNvPr id="13" name="code card"/>
          <p:cNvSpPr/>
          <p:nvPr/>
        </p:nvSpPr>
        <p:spPr>
          <a:xfrm>
            <a:off x="548640" y="310896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777240" y="32918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 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busId, type;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 / Sleeper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capacity;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[][] seats;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baseFare;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MAX_ROWS = 10;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MAX_COLS = 4;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concept card"/>
          <p:cNvSpPr/>
          <p:nvPr/>
        </p:nvSpPr>
        <p:spPr>
          <a:xfrm>
            <a:off x="630936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920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double · boolean · String · char</a:t>
            </a:r>
            <a:endParaRPr lang="en-US" sz="1400" dirty="0"/>
          </a:p>
        </p:txBody>
      </p:sp>
      <p:sp>
        <p:nvSpPr>
          <p:cNvPr id="19" name="concept card"/>
          <p:cNvSpPr/>
          <p:nvPr/>
        </p:nvSpPr>
        <p:spPr>
          <a:xfrm>
            <a:off x="905256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920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MAX_SEATS · baseFare · busNo</a:t>
            </a:r>
            <a:endParaRPr lang="en-US" sz="1400" dirty="0"/>
          </a:p>
        </p:txBody>
      </p:sp>
      <p:sp>
        <p:nvSpPr>
          <p:cNvPr id="23" name="concept card"/>
          <p:cNvSpPr/>
          <p:nvPr/>
        </p:nvSpPr>
        <p:spPr>
          <a:xfrm>
            <a:off x="6309360" y="3931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074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arithmetic · availability checks</a:t>
            </a:r>
            <a:endParaRPr lang="en-US" sz="1400" dirty="0"/>
          </a:p>
        </p:txBody>
      </p:sp>
      <p:sp>
        <p:nvSpPr>
          <p:cNvPr id="27" name="concept card"/>
          <p:cNvSpPr/>
          <p:nvPr/>
        </p:nvSpPr>
        <p:spPr>
          <a:xfrm>
            <a:off x="9052560" y="3931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&amp; Logic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5074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menus · System.out receipts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CONTROL FLOW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&amp; loops in action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74980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12480" y="320040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0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1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 ·  if / switch</a:t>
            </a:r>
            <a:endParaRPr lang="en-US" sz="1300" dirty="0"/>
          </a:p>
        </p:txBody>
      </p:sp>
      <p:sp>
        <p:nvSpPr>
          <p:cNvPr id="14" name="row"/>
          <p:cNvSpPr/>
          <p:nvPr/>
        </p:nvSpPr>
        <p:spPr>
          <a:xfrm>
            <a:off x="548640" y="2039112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0391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(seatsLeft &gt; 0)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039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only when seats exist</a:t>
            </a:r>
            <a:endParaRPr lang="en-US" sz="1200" dirty="0"/>
          </a:p>
        </p:txBody>
      </p:sp>
      <p:sp>
        <p:nvSpPr>
          <p:cNvPr id="17" name="row"/>
          <p:cNvSpPr/>
          <p:nvPr/>
        </p:nvSpPr>
        <p:spPr>
          <a:xfrm>
            <a:off x="548640" y="2514600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5146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2514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vs child fare</a:t>
            </a:r>
            <a:endParaRPr lang="en-US" sz="1200" dirty="0"/>
          </a:p>
        </p:txBody>
      </p:sp>
      <p:sp>
        <p:nvSpPr>
          <p:cNvPr id="20" name="row"/>
          <p:cNvSpPr/>
          <p:nvPr/>
        </p:nvSpPr>
        <p:spPr>
          <a:xfrm>
            <a:off x="548640" y="2990088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29900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(paymentMode)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9900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UPI / Card</a:t>
            </a:r>
            <a:endParaRPr lang="en-US" sz="1200" dirty="0"/>
          </a:p>
        </p:txBody>
      </p:sp>
      <p:sp>
        <p:nvSpPr>
          <p:cNvPr id="23" name="row"/>
          <p:cNvSpPr/>
          <p:nvPr/>
        </p:nvSpPr>
        <p:spPr>
          <a:xfrm>
            <a:off x="548640" y="3465576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4655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(src.equals(dest))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4655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same-city routes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 ·  for / while</a:t>
            </a:r>
            <a:endParaRPr lang="en-US" sz="1300" dirty="0"/>
          </a:p>
        </p:txBody>
      </p:sp>
      <p:sp>
        <p:nvSpPr>
          <p:cNvPr id="27" name="row"/>
          <p:cNvSpPr/>
          <p:nvPr/>
        </p:nvSpPr>
        <p:spPr>
          <a:xfrm>
            <a:off x="548640" y="4370832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37083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(Bus b : fleet)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3708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bus for a route</a:t>
            </a:r>
            <a:endParaRPr lang="en-US" sz="1200" dirty="0"/>
          </a:p>
        </p:txBody>
      </p:sp>
      <p:sp>
        <p:nvSpPr>
          <p:cNvPr id="30" name="row"/>
          <p:cNvSpPr/>
          <p:nvPr/>
        </p:nvSpPr>
        <p:spPr>
          <a:xfrm>
            <a:off x="548640" y="4846320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8463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(choice != 0)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4846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keeps running</a:t>
            </a:r>
            <a:endParaRPr lang="en-US" sz="1200" dirty="0"/>
          </a:p>
        </p:txBody>
      </p:sp>
      <p:sp>
        <p:nvSpPr>
          <p:cNvPr id="33" name="row"/>
          <p:cNvSpPr/>
          <p:nvPr/>
        </p:nvSpPr>
        <p:spPr>
          <a:xfrm>
            <a:off x="548640" y="5321808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3218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(r &lt; rows)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53218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2-D seat grid</a:t>
            </a:r>
            <a:endParaRPr lang="en-US" sz="1200" dirty="0"/>
          </a:p>
        </p:txBody>
      </p:sp>
      <p:sp>
        <p:nvSpPr>
          <p:cNvPr id="36" name="row"/>
          <p:cNvSpPr/>
          <p:nvPr/>
        </p:nvSpPr>
        <p:spPr>
          <a:xfrm>
            <a:off x="548640" y="5797296"/>
            <a:ext cx="5394960" cy="420624"/>
          </a:xfrm>
          <a:prstGeom prst="roundRect">
            <a:avLst>
              <a:gd name="adj" fmla="val 2608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797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} while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08960" y="57972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until valid</a:t>
            </a:r>
            <a:endParaRPr lang="en-US" sz="1200" dirty="0"/>
          </a:p>
        </p:txBody>
      </p:sp>
      <p:sp>
        <p:nvSpPr>
          <p:cNvPr id="39" name="code card"/>
          <p:cNvSpPr/>
          <p:nvPr/>
        </p:nvSpPr>
        <p:spPr>
          <a:xfrm>
            <a:off x="626364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40" name="code"/>
          <p:cNvSpPr txBox="1"/>
          <p:nvPr/>
        </p:nvSpPr>
        <p:spPr>
          <a:xfrm>
            <a:off x="6492240" y="1920240"/>
            <a:ext cx="49377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bookSeat(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row,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(row &lt; 0 || col &lt; 0 || row &gt;= MAX_ROWS)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position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(seats[row][col] ==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already taken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seats[row][col] =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scan the bus for free seats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= 0; r &lt; MAX_ROWS; r++)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= 0; c &lt; MAX_COLS; c++)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(!seats[r][c]) print(r +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METHODS, RECURSION &amp; ARRAYS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methods that drive the app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1499616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162288" y="320040"/>
            <a:ext cx="310896" cy="310896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62288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1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method card"/>
          <p:cNvSpPr/>
          <p:nvPr/>
        </p:nvSpPr>
        <p:spPr>
          <a:xfrm>
            <a:off x="548640" y="178308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searchBuses(src, dest, date)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List&lt;Bus&gt; matching route and date</a:t>
            </a:r>
            <a:endParaRPr lang="en-US" sz="1500" dirty="0"/>
          </a:p>
        </p:txBody>
      </p:sp>
      <p:sp>
        <p:nvSpPr>
          <p:cNvPr id="18" name="method card"/>
          <p:cNvSpPr/>
          <p:nvPr/>
        </p:nvSpPr>
        <p:spPr>
          <a:xfrm>
            <a:off x="4315968" y="178308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544568" y="201168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bookTicket(p, busId, row, col)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seat → creates Ticket → updates array</a:t>
            </a:r>
            <a:endParaRPr lang="en-US" sz="1500" dirty="0"/>
          </a:p>
        </p:txBody>
      </p:sp>
      <p:sp>
        <p:nvSpPr>
          <p:cNvPr id="23" name="method card"/>
          <p:cNvSpPr/>
          <p:nvPr/>
        </p:nvSpPr>
        <p:spPr>
          <a:xfrm>
            <a:off x="8083296" y="178308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8311896" y="201168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18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11896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cancelTicket(ticketId)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11896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the seat, marks ticket CANCELLED, refunds</a:t>
            </a:r>
            <a:endParaRPr lang="en-US" sz="1500" dirty="0"/>
          </a:p>
        </p:txBody>
      </p:sp>
      <p:sp>
        <p:nvSpPr>
          <p:cNvPr id="28" name="method card"/>
          <p:cNvSpPr/>
          <p:nvPr/>
        </p:nvSpPr>
        <p:spPr>
          <a:xfrm>
            <a:off x="548640" y="39776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calculateFare(distance, type)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212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= 1.5×  ·  Sleeper = 1.8× base fare</a:t>
            </a:r>
            <a:endParaRPr lang="en-US" sz="1500" dirty="0"/>
          </a:p>
        </p:txBody>
      </p:sp>
      <p:sp>
        <p:nvSpPr>
          <p:cNvPr id="33" name="method card"/>
          <p:cNvSpPr/>
          <p:nvPr/>
        </p:nvSpPr>
        <p:spPr>
          <a:xfrm>
            <a:off x="4315968" y="39776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4544568" y="420624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4456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displaySeatMap(bus)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44568" y="5212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2-D seat layout to console</a:t>
            </a:r>
            <a:endParaRPr lang="en-US" sz="1500" dirty="0"/>
          </a:p>
        </p:txBody>
      </p:sp>
      <p:sp>
        <p:nvSpPr>
          <p:cNvPr id="38" name="method card"/>
          <p:cNvSpPr/>
          <p:nvPr/>
        </p:nvSpPr>
        <p:spPr>
          <a:xfrm>
            <a:off x="8083296" y="39776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9" name="badge"/>
          <p:cNvSpPr/>
          <p:nvPr/>
        </p:nvSpPr>
        <p:spPr>
          <a:xfrm>
            <a:off x="8311896" y="4206240"/>
            <a:ext cx="384048" cy="38404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1189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311896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findPath(a, b)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311896" y="5212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multi-hop route search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OOP MODELLING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classes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224942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12096" y="320040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12096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class card"/>
          <p:cNvSpPr/>
          <p:nvPr/>
        </p:nvSpPr>
        <p:spPr>
          <a:xfrm>
            <a:off x="548640" y="178308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class title"/>
          <p:cNvSpPr/>
          <p:nvPr/>
        </p:nvSpPr>
        <p:spPr>
          <a:xfrm>
            <a:off x="731520" y="19659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97180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seats[][]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83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bookSeat()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getFreeSeats()</a:t>
            </a:r>
            <a:endParaRPr lang="en-US" sz="1400" dirty="0"/>
          </a:p>
        </p:txBody>
      </p:sp>
      <p:sp>
        <p:nvSpPr>
          <p:cNvPr id="20" name="class card"/>
          <p:cNvSpPr/>
          <p:nvPr/>
        </p:nvSpPr>
        <p:spPr>
          <a:xfrm>
            <a:off x="3355848" y="178308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1" name="class title"/>
          <p:cNvSpPr/>
          <p:nvPr/>
        </p:nvSpPr>
        <p:spPr>
          <a:xfrm>
            <a:off x="3538728" y="19659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3872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30168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630168" y="297180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idProof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30168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30168" y="4983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getDetails()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validateAge()</a:t>
            </a:r>
            <a:endParaRPr lang="en-US" sz="1400" dirty="0"/>
          </a:p>
        </p:txBody>
      </p:sp>
      <p:sp>
        <p:nvSpPr>
          <p:cNvPr id="27" name="class card"/>
          <p:cNvSpPr/>
          <p:nvPr/>
        </p:nvSpPr>
        <p:spPr>
          <a:xfrm>
            <a:off x="6163056" y="178308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8" name="class title"/>
          <p:cNvSpPr/>
          <p:nvPr/>
        </p:nvSpPr>
        <p:spPr>
          <a:xfrm>
            <a:off x="6345936" y="19659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45936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297180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seatNo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4983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generate()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cancel()</a:t>
            </a:r>
            <a:endParaRPr lang="en-US" sz="1400" dirty="0"/>
          </a:p>
        </p:txBody>
      </p:sp>
      <p:sp>
        <p:nvSpPr>
          <p:cNvPr id="34" name="class card"/>
          <p:cNvSpPr/>
          <p:nvPr/>
        </p:nvSpPr>
        <p:spPr>
          <a:xfrm>
            <a:off x="8970264" y="178308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5" name="class title"/>
          <p:cNvSpPr/>
          <p:nvPr/>
        </p:nvSpPr>
        <p:spPr>
          <a:xfrm>
            <a:off x="9153144" y="19659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53144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44584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244584" y="297180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stops[]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244584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244584" y="4983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calcDuration()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hasStop()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EXCEPTION HANDLING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things go wrong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224942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12096" y="320040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12096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code card"/>
          <p:cNvSpPr/>
          <p:nvPr/>
        </p:nvSpPr>
        <p:spPr>
          <a:xfrm>
            <a:off x="548640" y="1783080"/>
            <a:ext cx="6492240" cy="4343400"/>
          </a:xfrm>
          <a:prstGeom prst="roundRect">
            <a:avLst>
              <a:gd name="adj" fmla="val 2526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777240" y="1965960"/>
            <a:ext cx="6035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 t = system.bookTicket(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passenger, busId, 3, 1);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"Booked: 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t.getId());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(SeatUnavailableException e) 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"Seat already taken"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(InvalidRouteException e) 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such route"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(BookingNotFoundException e) 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"Ticket ID not found"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</a:t>
            </a:r>
            <a:endParaRPr lang="en-US" sz="1300" dirty="0"/>
          </a:p>
        </p:txBody>
      </p:sp>
      <p:sp>
        <p:nvSpPr>
          <p:cNvPr id="16" name="exception card"/>
          <p:cNvSpPr/>
          <p:nvPr/>
        </p:nvSpPr>
        <p:spPr>
          <a:xfrm>
            <a:off x="7406640" y="219456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7" name="marker"/>
          <p:cNvSpPr/>
          <p:nvPr/>
        </p:nvSpPr>
        <p:spPr>
          <a:xfrm>
            <a:off x="7589520" y="2468880"/>
            <a:ext cx="320040" cy="320040"/>
          </a:xfrm>
          <a:prstGeom prst="ellipse">
            <a:avLst/>
          </a:prstGeom>
          <a:solidFill>
            <a:srgbClr val="FB7185"/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SeatUnavailableException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is already booked</a:t>
            </a:r>
            <a:endParaRPr lang="en-US" sz="1400" dirty="0"/>
          </a:p>
        </p:txBody>
      </p:sp>
      <p:sp>
        <p:nvSpPr>
          <p:cNvPr id="21" name="exception card"/>
          <p:cNvSpPr/>
          <p:nvPr/>
        </p:nvSpPr>
        <p:spPr>
          <a:xfrm>
            <a:off x="7406640" y="320040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2" name="marker"/>
          <p:cNvSpPr/>
          <p:nvPr/>
        </p:nvSpPr>
        <p:spPr>
          <a:xfrm>
            <a:off x="7589520" y="3474720"/>
            <a:ext cx="320040" cy="320040"/>
          </a:xfrm>
          <a:prstGeom prst="ellipse">
            <a:avLst/>
          </a:prstGeom>
          <a:solidFill>
            <a:srgbClr val="FB7185"/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3328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InvalidRouteException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pair does not exist</a:t>
            </a:r>
            <a:endParaRPr lang="en-US" sz="1400" dirty="0"/>
          </a:p>
        </p:txBody>
      </p:sp>
      <p:sp>
        <p:nvSpPr>
          <p:cNvPr id="26" name="exception card"/>
          <p:cNvSpPr/>
          <p:nvPr/>
        </p:nvSpPr>
        <p:spPr>
          <a:xfrm>
            <a:off x="7406640" y="420624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7" name="marker"/>
          <p:cNvSpPr/>
          <p:nvPr/>
        </p:nvSpPr>
        <p:spPr>
          <a:xfrm>
            <a:off x="7589520" y="4480560"/>
            <a:ext cx="320040" cy="320040"/>
          </a:xfrm>
          <a:prstGeom prst="ellipse">
            <a:avLst/>
          </a:prstGeom>
          <a:solidFill>
            <a:srgbClr val="FB7185"/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334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BookingNotFoundException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681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ticket ID</a:t>
            </a:r>
            <a:endParaRPr lang="en-US" sz="1400" dirty="0"/>
          </a:p>
        </p:txBody>
      </p:sp>
      <p:sp>
        <p:nvSpPr>
          <p:cNvPr id="31" name="exception card"/>
          <p:cNvSpPr/>
          <p:nvPr/>
        </p:nvSpPr>
        <p:spPr>
          <a:xfrm>
            <a:off x="7406640" y="521208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2" name="marker"/>
          <p:cNvSpPr/>
          <p:nvPr/>
        </p:nvSpPr>
        <p:spPr>
          <a:xfrm>
            <a:off x="7589520" y="5486400"/>
            <a:ext cx="320040" cy="320040"/>
          </a:xfrm>
          <a:prstGeom prst="ellipse">
            <a:avLst/>
          </a:prstGeom>
          <a:solidFill>
            <a:srgbClr val="FB7185"/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548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5340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PaymentFailedException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5687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was declined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STRINGS, ALGORITHMS &amp; FILE I/O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toolkits, one system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2999232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stop 5"/>
          <p:cNvSpPr/>
          <p:nvPr/>
        </p:nvSpPr>
        <p:spPr>
          <a:xfrm>
            <a:off x="10661904" y="320040"/>
            <a:ext cx="310896" cy="310896"/>
          </a:xfrm>
          <a:prstGeom prst="ellipse">
            <a:avLst/>
          </a:prstGeom>
          <a:solidFill>
            <a:srgbClr val="FB7185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61904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column"/>
          <p:cNvSpPr/>
          <p:nvPr/>
        </p:nvSpPr>
        <p:spPr>
          <a:xfrm>
            <a:off x="548640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IDs</a:t>
            </a:r>
            <a:endParaRPr lang="en-US" sz="1500" dirty="0"/>
          </a:p>
        </p:txBody>
      </p:sp>
      <p:sp>
        <p:nvSpPr>
          <p:cNvPr id="16" name="pill"/>
          <p:cNvSpPr/>
          <p:nvPr/>
        </p:nvSpPr>
        <p:spPr>
          <a:xfrm>
            <a:off x="2331720" y="249631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1720" y="2496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"TKT" + UUID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9" name="pill"/>
          <p:cNvSpPr/>
          <p:nvPr/>
        </p:nvSpPr>
        <p:spPr>
          <a:xfrm>
            <a:off x="2331720" y="322783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31720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matches(regex)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500" dirty="0"/>
          </a:p>
        </p:txBody>
      </p:sp>
      <p:sp>
        <p:nvSpPr>
          <p:cNvPr id="22" name="pill"/>
          <p:cNvSpPr/>
          <p:nvPr/>
        </p:nvSpPr>
        <p:spPr>
          <a:xfrm>
            <a:off x="2331720" y="395935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31720" y="3959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split("-")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25" name="pill"/>
          <p:cNvSpPr/>
          <p:nvPr/>
        </p:nvSpPr>
        <p:spPr>
          <a:xfrm>
            <a:off x="2331720" y="469087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4690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349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500" dirty="0"/>
          </a:p>
        </p:txBody>
      </p:sp>
      <p:sp>
        <p:nvSpPr>
          <p:cNvPr id="28" name="pill"/>
          <p:cNvSpPr/>
          <p:nvPr/>
        </p:nvSpPr>
        <p:spPr>
          <a:xfrm>
            <a:off x="2331720" y="542239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5422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String.format()</a:t>
            </a:r>
            <a:endParaRPr lang="en-US" sz="1200" dirty="0"/>
          </a:p>
        </p:txBody>
      </p:sp>
      <p:sp>
        <p:nvSpPr>
          <p:cNvPr id="30" name="column"/>
          <p:cNvSpPr/>
          <p:nvPr/>
        </p:nvSpPr>
        <p:spPr>
          <a:xfrm>
            <a:off x="4315968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9028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00" dirty="0"/>
          </a:p>
        </p:txBody>
      </p:sp>
      <p:sp>
        <p:nvSpPr>
          <p:cNvPr id="33" name="pill"/>
          <p:cNvSpPr/>
          <p:nvPr/>
        </p:nvSpPr>
        <p:spPr>
          <a:xfrm>
            <a:off x="6099048" y="249631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99048" y="2496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Arrays.sort()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ticket</a:t>
            </a:r>
            <a:endParaRPr lang="en-US" sz="1500" dirty="0"/>
          </a:p>
        </p:txBody>
      </p:sp>
      <p:sp>
        <p:nvSpPr>
          <p:cNvPr id="36" name="pill"/>
          <p:cNvSpPr/>
          <p:nvPr/>
        </p:nvSpPr>
        <p:spPr>
          <a:xfrm>
            <a:off x="6099048" y="322783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99048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binarySearch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90288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</a:t>
            </a:r>
            <a:endParaRPr lang="en-US" sz="1500" dirty="0"/>
          </a:p>
        </p:txBody>
      </p:sp>
      <p:sp>
        <p:nvSpPr>
          <p:cNvPr id="39" name="pill"/>
          <p:cNvSpPr/>
          <p:nvPr/>
        </p:nvSpPr>
        <p:spPr>
          <a:xfrm>
            <a:off x="6099048" y="395935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99048" y="3959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90288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500" dirty="0"/>
          </a:p>
        </p:txBody>
      </p:sp>
      <p:sp>
        <p:nvSpPr>
          <p:cNvPr id="42" name="pill"/>
          <p:cNvSpPr/>
          <p:nvPr/>
        </p:nvSpPr>
        <p:spPr>
          <a:xfrm>
            <a:off x="6099048" y="469087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99048" y="4690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90288" y="5349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rating</a:t>
            </a:r>
            <a:endParaRPr lang="en-US" sz="1500" dirty="0"/>
          </a:p>
        </p:txBody>
      </p:sp>
      <p:sp>
        <p:nvSpPr>
          <p:cNvPr id="45" name="pill"/>
          <p:cNvSpPr/>
          <p:nvPr/>
        </p:nvSpPr>
        <p:spPr>
          <a:xfrm>
            <a:off x="6099048" y="542239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99048" y="5422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</a:t>
            </a:r>
            <a:endParaRPr lang="en-US" sz="1200" dirty="0"/>
          </a:p>
        </p:txBody>
      </p:sp>
      <p:sp>
        <p:nvSpPr>
          <p:cNvPr id="47" name="column"/>
          <p:cNvSpPr/>
          <p:nvPr/>
        </p:nvSpPr>
        <p:spPr>
          <a:xfrm>
            <a:off x="8083296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57616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357616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bookings.txt</a:t>
            </a:r>
            <a:endParaRPr lang="en-US" sz="1500" dirty="0"/>
          </a:p>
        </p:txBody>
      </p:sp>
      <p:sp>
        <p:nvSpPr>
          <p:cNvPr id="50" name="pill"/>
          <p:cNvSpPr/>
          <p:nvPr/>
        </p:nvSpPr>
        <p:spPr>
          <a:xfrm>
            <a:off x="9866376" y="249631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66376" y="2496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tickets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357616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buses.csv</a:t>
            </a:r>
            <a:endParaRPr lang="en-US" sz="1500" dirty="0"/>
          </a:p>
        </p:txBody>
      </p:sp>
      <p:sp>
        <p:nvSpPr>
          <p:cNvPr id="53" name="pill"/>
          <p:cNvSpPr/>
          <p:nvPr/>
        </p:nvSpPr>
        <p:spPr>
          <a:xfrm>
            <a:off x="9866376" y="322783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866376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fleet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357616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routes.json</a:t>
            </a:r>
            <a:endParaRPr lang="en-US" sz="1500" dirty="0"/>
          </a:p>
        </p:txBody>
      </p:sp>
      <p:sp>
        <p:nvSpPr>
          <p:cNvPr id="56" name="pill"/>
          <p:cNvSpPr/>
          <p:nvPr/>
        </p:nvSpPr>
        <p:spPr>
          <a:xfrm>
            <a:off x="9866376" y="395935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866376" y="3959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graph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357616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ObjectStream</a:t>
            </a:r>
            <a:endParaRPr lang="en-US" sz="1500" dirty="0"/>
          </a:p>
        </p:txBody>
      </p:sp>
      <p:sp>
        <p:nvSpPr>
          <p:cNvPr id="59" name="pill"/>
          <p:cNvSpPr/>
          <p:nvPr/>
        </p:nvSpPr>
        <p:spPr>
          <a:xfrm>
            <a:off x="9866376" y="469087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866376" y="4690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357616" y="5349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endParaRPr lang="en-US" sz="1500" dirty="0"/>
          </a:p>
        </p:txBody>
      </p:sp>
      <p:sp>
        <p:nvSpPr>
          <p:cNvPr id="62" name="pill"/>
          <p:cNvSpPr/>
          <p:nvPr/>
        </p:nvSpPr>
        <p:spPr>
          <a:xfrm>
            <a:off x="9866376" y="5422392"/>
            <a:ext cx="1645920" cy="402336"/>
          </a:xfrm>
          <a:prstGeom prst="roundRect">
            <a:avLst>
              <a:gd name="adj" fmla="val 22727"/>
            </a:avLst>
          </a:prstGeom>
          <a:solidFill>
            <a:srgbClr val="1E2127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66376" y="5422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logs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IN CODE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Validate, parse and persist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2999232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stop 5"/>
          <p:cNvSpPr/>
          <p:nvPr/>
        </p:nvSpPr>
        <p:spPr>
          <a:xfrm>
            <a:off x="10661904" y="320040"/>
            <a:ext cx="310896" cy="310896"/>
          </a:xfrm>
          <a:prstGeom prst="ellipse">
            <a:avLst/>
          </a:prstGeom>
          <a:solidFill>
            <a:srgbClr val="FB7185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61904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top 6"/>
          <p:cNvSpPr/>
          <p:nvPr/>
        </p:nvSpPr>
        <p:spPr>
          <a:xfrm>
            <a:off x="11494008" y="402336"/>
            <a:ext cx="146304" cy="14630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A3D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PARSING</a:t>
            </a:r>
            <a:endParaRPr lang="en-US" sz="1300" dirty="0"/>
          </a:p>
        </p:txBody>
      </p:sp>
      <p:sp>
        <p:nvSpPr>
          <p:cNvPr id="14" name="code card"/>
          <p:cNvSpPr/>
          <p:nvPr/>
        </p:nvSpPr>
        <p:spPr>
          <a:xfrm>
            <a:off x="54864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5" name="code"/>
          <p:cNvSpPr txBox="1"/>
          <p:nvPr/>
        </p:nvSpPr>
        <p:spPr>
          <a:xfrm>
            <a:off x="77724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unique ticket id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id 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"TKT-"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System.currentTimeMillis();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validate passenger name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(!name.matches(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"[A-Za-z ]+"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Exception(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name"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parse route "Chennai-Bangalore"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parts = route.split(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src  = parts[0];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dest = parts[1];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</a:t>
            </a:r>
            <a:endParaRPr lang="en-US" sz="1300" dirty="0"/>
          </a:p>
        </p:txBody>
      </p:sp>
      <p:sp>
        <p:nvSpPr>
          <p:cNvPr id="17" name="code card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save booking to file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FileWriter fw 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FileWriter(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"bookings.txt"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fw.write(ticket.toString() +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fw.close();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 all buses from CSV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BufferedReader br =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BufferedReader(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FileReader(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"buses.csv"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line;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((line = br.readLine()) != null)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parse and create Bus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COLLECTIONS API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container for each job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FB7185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1" name="stop 6"/>
          <p:cNvSpPr/>
          <p:nvPr/>
        </p:nvSpPr>
        <p:spPr>
          <a:xfrm>
            <a:off x="11411712" y="320040"/>
            <a:ext cx="310896" cy="310896"/>
          </a:xfrm>
          <a:prstGeom prst="ellipse">
            <a:avLst/>
          </a:prstGeom>
          <a:solidFill>
            <a:srgbClr val="60A5F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11712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collection card"/>
          <p:cNvSpPr/>
          <p:nvPr/>
        </p:nvSpPr>
        <p:spPr>
          <a:xfrm>
            <a:off x="54864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fleet</a:t>
            </a:r>
            <a:endParaRPr lang="en-US" sz="1800" dirty="0"/>
          </a:p>
        </p:txBody>
      </p:sp>
      <p:sp>
        <p:nvSpPr>
          <p:cNvPr id="17" name="type chip"/>
          <p:cNvSpPr/>
          <p:nvPr/>
        </p:nvSpPr>
        <p:spPr>
          <a:xfrm>
            <a:off x="731520" y="4937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B0D10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List&lt;Bus&gt;</a:t>
            </a:r>
            <a:endParaRPr lang="en-US" sz="1200" dirty="0"/>
          </a:p>
        </p:txBody>
      </p:sp>
      <p:sp>
        <p:nvSpPr>
          <p:cNvPr id="19" name="collection card"/>
          <p:cNvSpPr/>
          <p:nvPr/>
        </p:nvSpPr>
        <p:spPr>
          <a:xfrm>
            <a:off x="278892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lookup</a:t>
            </a:r>
            <a:endParaRPr lang="en-US" sz="1800" dirty="0"/>
          </a:p>
        </p:txBody>
      </p:sp>
      <p:sp>
        <p:nvSpPr>
          <p:cNvPr id="23" name="type chip"/>
          <p:cNvSpPr/>
          <p:nvPr/>
        </p:nvSpPr>
        <p:spPr>
          <a:xfrm>
            <a:off x="2971800" y="4937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B0D10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Ticket&gt;</a:t>
            </a:r>
            <a:endParaRPr lang="en-US" sz="1200" dirty="0"/>
          </a:p>
        </p:txBody>
      </p:sp>
      <p:sp>
        <p:nvSpPr>
          <p:cNvPr id="25" name="collection card"/>
          <p:cNvSpPr/>
          <p:nvPr/>
        </p:nvSpPr>
        <p:spPr>
          <a:xfrm>
            <a:off x="5029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queue</a:t>
            </a:r>
            <a:endParaRPr lang="en-US" sz="1800" dirty="0"/>
          </a:p>
        </p:txBody>
      </p:sp>
      <p:sp>
        <p:nvSpPr>
          <p:cNvPr id="29" name="type chip"/>
          <p:cNvSpPr/>
          <p:nvPr/>
        </p:nvSpPr>
        <p:spPr>
          <a:xfrm>
            <a:off x="5212080" y="4937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B0D10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5780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Queue&lt;Passenger&gt;</a:t>
            </a:r>
            <a:endParaRPr lang="en-US" sz="1200" dirty="0"/>
          </a:p>
        </p:txBody>
      </p:sp>
      <p:sp>
        <p:nvSpPr>
          <p:cNvPr id="31" name="collection card"/>
          <p:cNvSpPr/>
          <p:nvPr/>
        </p:nvSpPr>
        <p:spPr>
          <a:xfrm>
            <a:off x="726948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TreeSet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routes</a:t>
            </a:r>
            <a:endParaRPr lang="en-US" sz="1800" dirty="0"/>
          </a:p>
        </p:txBody>
      </p:sp>
      <p:sp>
        <p:nvSpPr>
          <p:cNvPr id="35" name="type chip"/>
          <p:cNvSpPr/>
          <p:nvPr/>
        </p:nvSpPr>
        <p:spPr>
          <a:xfrm>
            <a:off x="7452360" y="4937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B0D10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Set&lt;Route&gt;</a:t>
            </a:r>
            <a:endParaRPr lang="en-US" sz="1200" dirty="0"/>
          </a:p>
        </p:txBody>
      </p:sp>
      <p:sp>
        <p:nvSpPr>
          <p:cNvPr id="37" name="collection card"/>
          <p:cNvSpPr/>
          <p:nvPr/>
        </p:nvSpPr>
        <p:spPr>
          <a:xfrm>
            <a:off x="950976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383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97383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cities</a:t>
            </a:r>
            <a:endParaRPr lang="en-US" sz="1800" dirty="0"/>
          </a:p>
        </p:txBody>
      </p:sp>
      <p:sp>
        <p:nvSpPr>
          <p:cNvPr id="41" name="type chip"/>
          <p:cNvSpPr/>
          <p:nvPr/>
        </p:nvSpPr>
        <p:spPr>
          <a:xfrm>
            <a:off x="9692640" y="4937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0B0D10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3836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STREAM PIPELINE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filter &amp; sort</a:t>
            </a:r>
            <a:endParaRPr lang="en-US" sz="3400" dirty="0"/>
          </a:p>
        </p:txBody>
      </p:sp>
      <p:sp>
        <p:nvSpPr>
          <p:cNvPr id="4" name="route li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5" name="route done"/>
          <p:cNvSpPr/>
          <p:nvPr/>
        </p:nvSpPr>
        <p:spPr>
          <a:xfrm>
            <a:off x="7818120" y="475488"/>
            <a:ext cx="37490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" name="stop 1"/>
          <p:cNvSpPr/>
          <p:nvPr/>
        </p:nvSpPr>
        <p:spPr>
          <a:xfrm>
            <a:off x="7744968" y="402336"/>
            <a:ext cx="146304" cy="146304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stop 2"/>
          <p:cNvSpPr/>
          <p:nvPr/>
        </p:nvSpPr>
        <p:spPr>
          <a:xfrm>
            <a:off x="8494776" y="402336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top 3"/>
          <p:cNvSpPr/>
          <p:nvPr/>
        </p:nvSpPr>
        <p:spPr>
          <a:xfrm>
            <a:off x="9244584" y="402336"/>
            <a:ext cx="146304" cy="146304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top 4"/>
          <p:cNvSpPr/>
          <p:nvPr/>
        </p:nvSpPr>
        <p:spPr>
          <a:xfrm>
            <a:off x="9994392" y="402336"/>
            <a:ext cx="146304" cy="14630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stop 5"/>
          <p:cNvSpPr/>
          <p:nvPr/>
        </p:nvSpPr>
        <p:spPr>
          <a:xfrm>
            <a:off x="10744200" y="402336"/>
            <a:ext cx="146304" cy="146304"/>
          </a:xfrm>
          <a:prstGeom prst="ellipse">
            <a:avLst/>
          </a:prstGeom>
          <a:solidFill>
            <a:srgbClr val="FB7185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1" name="stop 6"/>
          <p:cNvSpPr/>
          <p:nvPr/>
        </p:nvSpPr>
        <p:spPr>
          <a:xfrm>
            <a:off x="11411712" y="320040"/>
            <a:ext cx="310896" cy="310896"/>
          </a:xfrm>
          <a:prstGeom prst="ellipse">
            <a:avLst/>
          </a:prstGeom>
          <a:solidFill>
            <a:srgbClr val="60A5F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11712" y="32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stage"/>
          <p:cNvSpPr/>
          <p:nvPr/>
        </p:nvSpPr>
        <p:spPr>
          <a:xfrm>
            <a:off x="548640" y="1783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buses.stream()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2587752" y="2331720"/>
            <a:ext cx="246888" cy="320040"/>
          </a:xfrm>
          <a:prstGeom prst="rightArrow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9" name="stage"/>
          <p:cNvSpPr/>
          <p:nvPr/>
        </p:nvSpPr>
        <p:spPr>
          <a:xfrm>
            <a:off x="2862072" y="1783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3044952" y="1920240"/>
            <a:ext cx="365760" cy="365760"/>
          </a:xfrm>
          <a:prstGeom prst="ellipse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4495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44952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filter(hasSeats)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044952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only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4901184" y="2331720"/>
            <a:ext cx="246888" cy="320040"/>
          </a:xfrm>
          <a:prstGeom prst="rightArrow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5" name="stage"/>
          <p:cNvSpPr/>
          <p:nvPr/>
        </p:nvSpPr>
        <p:spPr>
          <a:xfrm>
            <a:off x="5175504" y="1783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5358384" y="1920240"/>
            <a:ext cx="365760" cy="365760"/>
          </a:xfrm>
          <a:prstGeom prst="ellipse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58384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58384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sorted(byFare)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58384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first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7214616" y="2331720"/>
            <a:ext cx="246888" cy="320040"/>
          </a:xfrm>
          <a:prstGeom prst="rightArrow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1" name="stage"/>
          <p:cNvSpPr/>
          <p:nvPr/>
        </p:nvSpPr>
        <p:spPr>
          <a:xfrm>
            <a:off x="7488936" y="1783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7671816" y="1920240"/>
            <a:ext cx="365760" cy="365760"/>
          </a:xfrm>
          <a:prstGeom prst="ellipse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7181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map(getRoute)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671816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routes</a:t>
            </a:r>
            <a:endParaRPr lang="en-US" sz="1400" dirty="0"/>
          </a:p>
        </p:txBody>
      </p:sp>
      <p:sp>
        <p:nvSpPr>
          <p:cNvPr id="36" name="arrow"/>
          <p:cNvSpPr/>
          <p:nvPr/>
        </p:nvSpPr>
        <p:spPr>
          <a:xfrm>
            <a:off x="9528048" y="2331720"/>
            <a:ext cx="246888" cy="320040"/>
          </a:xfrm>
          <a:prstGeom prst="rightArrow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7" name="stage"/>
          <p:cNvSpPr/>
          <p:nvPr/>
        </p:nvSpPr>
        <p:spPr>
          <a:xfrm>
            <a:off x="9802368" y="1783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317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38" name="badge"/>
          <p:cNvSpPr/>
          <p:nvPr/>
        </p:nvSpPr>
        <p:spPr>
          <a:xfrm>
            <a:off x="9985248" y="1920240"/>
            <a:ext cx="365760" cy="365760"/>
          </a:xfrm>
          <a:prstGeom prst="ellipse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8524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98524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collect(toList())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985248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42" name="code card"/>
          <p:cNvSpPr/>
          <p:nvPr/>
        </p:nvSpPr>
        <p:spPr>
          <a:xfrm>
            <a:off x="548640" y="3520440"/>
            <a:ext cx="11109960" cy="2606040"/>
          </a:xfrm>
          <a:prstGeom prst="roundRect">
            <a:avLst>
              <a:gd name="adj" fmla="val 4211"/>
            </a:avLst>
          </a:prstGeom>
          <a:solidFill>
            <a:srgbClr val="0B0D10"/>
          </a:solidFill>
          <a:ln w="9525">
            <a:solidFill>
              <a:srgbClr val="2A2D33"/>
            </a:solidFill>
            <a:prstDash val="solid"/>
          </a:ln>
        </p:spPr>
      </p:sp>
      <p:sp>
        <p:nvSpPr>
          <p:cNvPr id="43" name="code"/>
          <p:cNvSpPr txBox="1"/>
          <p:nvPr/>
        </p:nvSpPr>
        <p:spPr>
          <a:xfrm>
            <a:off x="777240" y="3703320"/>
            <a:ext cx="10652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List&lt;Bus&gt; available = buses.stream()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 -&gt; b.getFreeSeats() &gt; 0)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 -&gt; b.getRoute().getSource().equalsIgnoreCase(src))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 -&gt; b.getRoute().getDestination().equalsIgnoreCase(dest))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.sorted(Comparator.comparing(Bus::getFare))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.collect(Collectors.toList());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te"/>
          <p:cNvSpPr/>
          <p:nvPr/>
        </p:nvSpPr>
        <p:spPr>
          <a:xfrm>
            <a:off x="731520" y="2743200"/>
            <a:ext cx="10698480" cy="0"/>
          </a:xfrm>
          <a:prstGeom prst="line">
            <a:avLst/>
          </a:prstGeom>
          <a:noFill/>
          <a:ln w="31750">
            <a:solidFill>
              <a:srgbClr val="3A3D44"/>
            </a:solidFill>
            <a:prstDash val="solid"/>
          </a:ln>
        </p:spPr>
      </p:sp>
      <p:sp>
        <p:nvSpPr>
          <p:cNvPr id="3" name="stop"/>
          <p:cNvSpPr/>
          <p:nvPr/>
        </p:nvSpPr>
        <p:spPr>
          <a:xfrm>
            <a:off x="630936" y="2642616"/>
            <a:ext cx="201168" cy="201168"/>
          </a:xfrm>
          <a:prstGeom prst="ellipse">
            <a:avLst/>
          </a:prstGeom>
          <a:solidFill>
            <a:srgbClr val="FFB02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stop"/>
          <p:cNvSpPr/>
          <p:nvPr/>
        </p:nvSpPr>
        <p:spPr>
          <a:xfrm>
            <a:off x="2770632" y="2642616"/>
            <a:ext cx="201168" cy="20116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stop"/>
          <p:cNvSpPr/>
          <p:nvPr/>
        </p:nvSpPr>
        <p:spPr>
          <a:xfrm>
            <a:off x="4910328" y="2642616"/>
            <a:ext cx="201168" cy="201168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top"/>
          <p:cNvSpPr/>
          <p:nvPr/>
        </p:nvSpPr>
        <p:spPr>
          <a:xfrm>
            <a:off x="7050024" y="2642616"/>
            <a:ext cx="201168" cy="20116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top"/>
          <p:cNvSpPr/>
          <p:nvPr/>
        </p:nvSpPr>
        <p:spPr>
          <a:xfrm>
            <a:off x="9189720" y="2642616"/>
            <a:ext cx="201168" cy="201168"/>
          </a:xfrm>
          <a:prstGeom prst="ellipse">
            <a:avLst/>
          </a:prstGeom>
          <a:solidFill>
            <a:srgbClr val="FB7185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stop"/>
          <p:cNvSpPr/>
          <p:nvPr/>
        </p:nvSpPr>
        <p:spPr>
          <a:xfrm>
            <a:off x="11329416" y="2642616"/>
            <a:ext cx="201168" cy="20116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Bus Reservation System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Simrit   ·   K. Yutesh Kumar   ·   B. Bhanu Shanker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Route">
  <a:themeElements>
    <a:clrScheme name="Midnight Route">
      <a:dk1>
        <a:srgbClr val="000000"/>
      </a:dk1>
      <a:lt1>
        <a:srgbClr val="FFFFFF"/>
      </a:lt1>
      <a:dk2>
        <a:srgbClr val="111317"/>
      </a:dk2>
      <a:lt2>
        <a:srgbClr val="F2F2F2"/>
      </a:lt2>
      <a:accent1>
        <a:srgbClr val="FFB020"/>
      </a:accent1>
      <a:accent2>
        <a:srgbClr val="22D3EE"/>
      </a:accent2>
      <a:accent3>
        <a:srgbClr val="4ADE80"/>
      </a:accent3>
      <a:accent4>
        <a:srgbClr val="A78BFA"/>
      </a:accent4>
      <a:accent5>
        <a:srgbClr val="FB7185"/>
      </a:accent5>
      <a:accent6>
        <a:srgbClr val="60A5FA"/>
      </a:accent6>
      <a:hlink>
        <a:srgbClr val="22D3EE"/>
      </a:hlink>
      <a:folHlink>
        <a:srgbClr val="A78BFA"/>
      </a:folHlink>
    </a:clrScheme>
    <a:fontScheme name="Midnight 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Intercity Bus Reservation System</dc:title>
  <dc:subject>PptxGenJS Presentation</dc:subject>
  <dc:creator>M. Simrit, K. Yutesh Kumar, B. Bhanu Shanker</dc:creator>
  <cp:lastModifiedBy>M. Simrit, K. Yutesh Kumar, B. Bhanu Shanker</cp:lastModifiedBy>
  <cp:revision>1</cp:revision>
  <dcterms:created xsi:type="dcterms:W3CDTF">2026-10-15T12:08:56Z</dcterms:created>
  <dcterms:modified xsi:type="dcterms:W3CDTF">2026-10-15T12:08:56Z</dcterms:modified>
</cp:coreProperties>
</file>